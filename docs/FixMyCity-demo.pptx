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4" r:id="rId18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HelveticaNeue-regular.fntdata"/><Relationship Id="rId15" Type="http://schemas.openxmlformats.org/officeDocument/2006/relationships/font" Target="fonts/HelveticaNeue-bold.fntdata"/><Relationship Id="rId16" Type="http://schemas.openxmlformats.org/officeDocument/2006/relationships/font" Target="fonts/HelveticaNeue-italic.fntdata"/><Relationship Id="rId17" Type="http://schemas.openxmlformats.org/officeDocument/2006/relationships/font" Target="fonts/HelveticaNeue-boldItalic.fntdata"/><Relationship Id="rId18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81C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 rot="8100000">
            <a:off x="5673852" y="1452067"/>
            <a:ext cx="844905" cy="844905"/>
          </a:xfrm>
          <a:prstGeom prst="teardrop">
            <a:avLst>
              <a:gd fmla="val 100000" name="adj"/>
            </a:avLst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945428" y="1723643"/>
            <a:ext cx="301752" cy="30175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 local issues. Track every fix.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closed-loop civic issue-reporting platform for Ghana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4892040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FB3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Zero Down Time  ·  CSCD 602 Advanced Software Engineering  ·  University of Ghana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6144768"/>
            <a:ext cx="10362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Pilot: Ayawaso West Municipal Assembly (AWMA)  ·  3 issue categories  ·  4 user roles  ·  Progressive Web App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5348288"/>
            <a:ext cx="10362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A5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22425071 </a:t>
            </a: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Nana Agyemang Duah</a:t>
            </a:r>
            <a:r>
              <a:rPr b="0" i="0" lang="en-US" sz="1100" u="none" cap="none" strike="noStrike">
                <a:solidFill>
                  <a:srgbClr val="8FA5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·   22424595 </a:t>
            </a: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Nigel Dolling</a:t>
            </a:r>
            <a:r>
              <a:rPr b="0" i="0" lang="en-US" sz="1100" u="none" cap="none" strike="noStrike">
                <a:solidFill>
                  <a:srgbClr val="8FA5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·   22424245 </a:t>
            </a: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Samuel Owusu Ampadu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A5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22427427 </a:t>
            </a: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Stanford Ofori</a:t>
            </a:r>
            <a:r>
              <a:rPr b="0" i="0" lang="en-US" sz="1100" u="none" cap="none" strike="noStrike">
                <a:solidFill>
                  <a:srgbClr val="8FA5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·   22424693 </a:t>
            </a: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Alexander Adade</a:t>
            </a:r>
            <a:r>
              <a:rPr b="0" i="0" lang="en-US" sz="1100" u="none" cap="none" strike="noStrike">
                <a:solidFill>
                  <a:srgbClr val="8FA5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·   22425066 </a:t>
            </a: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Hajara Yusif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  ·  OUR ANSWER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reports used to vanish — and how we close the loop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66928" y="1097280"/>
            <a:ext cx="822960" cy="41148"/>
          </a:xfrm>
          <a:prstGeom prst="rect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48640" y="1508760"/>
            <a:ext cx="5440680" cy="3017520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22960" y="2194560"/>
            <a:ext cx="48920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Earlier Ghanaian reporting attempts failed: reports disappeared into a void.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resolution workflow — nobody owned an issue after submission.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feedback — citizens never learned what happened, so they stopped reporting.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institutional buy-in from assemblies.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217920" y="1508760"/>
            <a:ext cx="5440680" cy="3017520"/>
          </a:xfrm>
          <a:prstGeom prst="roundRect">
            <a:avLst>
              <a:gd fmla="val 12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answer: the closed loop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92240" y="219456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report moves through a strict, server-enforced state machine.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citizen is notified at every single transition (in-app + email).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change is timestamped and audit-logged — nothing vanishes.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console gives AWMA staff a single inbox, crew dispatch and analytics.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48640" y="4800600"/>
            <a:ext cx="11109960" cy="14173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22960" y="495604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Pilot scope (deliberately locked)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22960" y="532180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Ayawaso West Municipal Assembly — ~75,303 residents, ~31 km², incl. UG Legon campus   ·   Categories: Illegal Dumping, Blocked Drain, Broken Streetlight   ·   Roles: Citizen, Reports Officer, Field Crew, Administrator   ·   Delivered as an installable Progressive Web App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 · Zero Down Time · CSCD 602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WORKFLOW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it works — one strict state machine, closed loop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66928" y="1097280"/>
            <a:ext cx="822960" cy="41148"/>
          </a:xfrm>
          <a:prstGeom prst="rect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81431" y="2148840"/>
            <a:ext cx="1938528" cy="566928"/>
          </a:xfrm>
          <a:prstGeom prst="roundRect">
            <a:avLst>
              <a:gd fmla="val 50000" name="adj"/>
            </a:avLst>
          </a:prstGeom>
          <a:solidFill>
            <a:srgbClr val="6B7280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Submitted</a:t>
            </a:r>
            <a:endParaRPr/>
          </a:p>
        </p:txBody>
      </p:sp>
      <p:cxnSp>
        <p:nvCxnSpPr>
          <p:cNvPr id="119" name="Google Shape;119;p15"/>
          <p:cNvCxnSpPr/>
          <p:nvPr/>
        </p:nvCxnSpPr>
        <p:spPr>
          <a:xfrm>
            <a:off x="2456535" y="2432304"/>
            <a:ext cx="310896" cy="0"/>
          </a:xfrm>
          <a:prstGeom prst="straightConnector1">
            <a:avLst/>
          </a:prstGeom>
          <a:noFill/>
          <a:ln cap="flat" cmpd="sng" w="28575">
            <a:solidFill>
              <a:srgbClr val="0B25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15"/>
          <p:cNvSpPr/>
          <p:nvPr/>
        </p:nvSpPr>
        <p:spPr>
          <a:xfrm>
            <a:off x="2804007" y="2148840"/>
            <a:ext cx="1938528" cy="566928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Acknowledged</a:t>
            </a:r>
            <a:endParaRPr/>
          </a:p>
        </p:txBody>
      </p:sp>
      <p:cxnSp>
        <p:nvCxnSpPr>
          <p:cNvPr id="121" name="Google Shape;121;p15"/>
          <p:cNvCxnSpPr/>
          <p:nvPr/>
        </p:nvCxnSpPr>
        <p:spPr>
          <a:xfrm>
            <a:off x="4779111" y="2432304"/>
            <a:ext cx="310896" cy="0"/>
          </a:xfrm>
          <a:prstGeom prst="straightConnector1">
            <a:avLst/>
          </a:prstGeom>
          <a:noFill/>
          <a:ln cap="flat" cmpd="sng" w="28575">
            <a:solidFill>
              <a:srgbClr val="0B25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15"/>
          <p:cNvSpPr/>
          <p:nvPr/>
        </p:nvSpPr>
        <p:spPr>
          <a:xfrm>
            <a:off x="5126583" y="2148840"/>
            <a:ext cx="1938528" cy="566928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Assigned</a:t>
            </a:r>
            <a:endParaRPr/>
          </a:p>
        </p:txBody>
      </p:sp>
      <p:cxnSp>
        <p:nvCxnSpPr>
          <p:cNvPr id="123" name="Google Shape;123;p15"/>
          <p:cNvCxnSpPr/>
          <p:nvPr/>
        </p:nvCxnSpPr>
        <p:spPr>
          <a:xfrm>
            <a:off x="7101687" y="2432304"/>
            <a:ext cx="310896" cy="0"/>
          </a:xfrm>
          <a:prstGeom prst="straightConnector1">
            <a:avLst/>
          </a:prstGeom>
          <a:noFill/>
          <a:ln cap="flat" cmpd="sng" w="28575">
            <a:solidFill>
              <a:srgbClr val="0B25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15"/>
          <p:cNvSpPr/>
          <p:nvPr/>
        </p:nvSpPr>
        <p:spPr>
          <a:xfrm>
            <a:off x="7449159" y="2148840"/>
            <a:ext cx="1938528" cy="566928"/>
          </a:xfrm>
          <a:prstGeom prst="roundRect">
            <a:avLst>
              <a:gd fmla="val 50000" name="adj"/>
            </a:avLst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Progress</a:t>
            </a:r>
            <a:endParaRPr/>
          </a:p>
        </p:txBody>
      </p:sp>
      <p:cxnSp>
        <p:nvCxnSpPr>
          <p:cNvPr id="125" name="Google Shape;125;p15"/>
          <p:cNvCxnSpPr/>
          <p:nvPr/>
        </p:nvCxnSpPr>
        <p:spPr>
          <a:xfrm>
            <a:off x="9424263" y="2432304"/>
            <a:ext cx="310896" cy="0"/>
          </a:xfrm>
          <a:prstGeom prst="straightConnector1">
            <a:avLst/>
          </a:prstGeom>
          <a:noFill/>
          <a:ln cap="flat" cmpd="sng" w="28575">
            <a:solidFill>
              <a:srgbClr val="0B25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15"/>
          <p:cNvSpPr/>
          <p:nvPr/>
        </p:nvSpPr>
        <p:spPr>
          <a:xfrm>
            <a:off x="9771735" y="2148840"/>
            <a:ext cx="1938528" cy="566928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Resolved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984351" y="3520440"/>
            <a:ext cx="1938528" cy="566928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Rejected</a:t>
            </a:r>
            <a:endParaRPr/>
          </a:p>
        </p:txBody>
      </p:sp>
      <p:cxnSp>
        <p:nvCxnSpPr>
          <p:cNvPr id="128" name="Google Shape;128;p15"/>
          <p:cNvCxnSpPr/>
          <p:nvPr/>
        </p:nvCxnSpPr>
        <p:spPr>
          <a:xfrm>
            <a:off x="1770735" y="2752344"/>
            <a:ext cx="182880" cy="731520"/>
          </a:xfrm>
          <a:prstGeom prst="straightConnector1">
            <a:avLst/>
          </a:prstGeom>
          <a:noFill/>
          <a:ln cap="flat" cmpd="sng" w="22225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15"/>
          <p:cNvSpPr txBox="1"/>
          <p:nvPr/>
        </p:nvSpPr>
        <p:spPr>
          <a:xfrm>
            <a:off x="847191" y="416052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reason required: outside jurisdiction /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duplicate / insufficient info / not valid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9268815" y="3520440"/>
            <a:ext cx="1938528" cy="56692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Reopened</a:t>
            </a:r>
            <a:endParaRPr/>
          </a:p>
        </p:txBody>
      </p:sp>
      <p:cxnSp>
        <p:nvCxnSpPr>
          <p:cNvPr id="131" name="Google Shape;131;p15"/>
          <p:cNvCxnSpPr/>
          <p:nvPr/>
        </p:nvCxnSpPr>
        <p:spPr>
          <a:xfrm flipH="1">
            <a:off x="10238079" y="2752344"/>
            <a:ext cx="182880" cy="731520"/>
          </a:xfrm>
          <a:prstGeom prst="straightConnector1">
            <a:avLst/>
          </a:prstGeom>
          <a:noFill/>
          <a:ln cap="flat" cmpd="sng" w="22225">
            <a:solidFill>
              <a:srgbClr val="EA580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15"/>
          <p:cNvCxnSpPr/>
          <p:nvPr/>
        </p:nvCxnSpPr>
        <p:spPr>
          <a:xfrm rot="10800000">
            <a:off x="6461607" y="2852928"/>
            <a:ext cx="2825496" cy="950976"/>
          </a:xfrm>
          <a:prstGeom prst="straightConnector1">
            <a:avLst/>
          </a:prstGeom>
          <a:noFill/>
          <a:ln cap="flat" cmpd="sng" w="19050">
            <a:solidFill>
              <a:srgbClr val="EA580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3" name="Google Shape;133;p15"/>
          <p:cNvSpPr txBox="1"/>
          <p:nvPr/>
        </p:nvSpPr>
        <p:spPr>
          <a:xfrm>
            <a:off x="9177375" y="41605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 may reopen within 7 days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issue is not actually fixed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48640" y="4983480"/>
            <a:ext cx="3584448" cy="1371600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749808" y="512064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Server-side only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49808" y="5413248"/>
            <a:ext cx="31821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Front-ends never write a status. Every transition goes through the transition-report edge function, which validates legality for the current state and the caller's role.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4315968" y="4983480"/>
            <a:ext cx="3584448" cy="1371600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4517136" y="512064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Audited, always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517136" y="5413248"/>
            <a:ext cx="31821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transition writes exactly one row to an append-only audit log (DB trigger blocks updates) — surfaced in the console Audit Log.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8083296" y="4983480"/>
            <a:ext cx="3584448" cy="1371600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284464" y="512064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 always informed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284464" y="5413248"/>
            <a:ext cx="31821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transition fires an in-app realtime notification and a branded email. This is the closed loop.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 · Zero Down Time · CSCD 602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DESIGN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 and tech stack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66928" y="1097280"/>
            <a:ext cx="822960" cy="41148"/>
          </a:xfrm>
          <a:prstGeom prst="rect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48640" y="1554480"/>
            <a:ext cx="3383280" cy="1691640"/>
          </a:xfrm>
          <a:prstGeom prst="roundRect">
            <a:avLst>
              <a:gd fmla="val 12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777240" y="1691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 app  (PWA)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77240" y="201168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Installable, mobile-first, 3G-optimised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React + Vite + Tailwind v4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Leaflet + OpenStreetMap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Deployed on Vercel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48640" y="3429000"/>
            <a:ext cx="3383280" cy="1691640"/>
          </a:xfrm>
          <a:prstGeom prst="roundRect">
            <a:avLst>
              <a:gd fmla="val 12000" name="adj"/>
            </a:avLst>
          </a:prstGeom>
          <a:solidFill>
            <a:srgbClr val="1E5F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77240" y="356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Operations console  (desktop)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77240" y="388620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6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Inbox · map · assignments · crews ·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6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analytics · users &amp; roles · audit log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6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React + Vite + Tailwind v4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4572000" y="1554480"/>
            <a:ext cx="4114800" cy="3566160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480060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Supabase backend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4800600" y="2103120"/>
            <a:ext cx="3657600" cy="51206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Postgres 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PostGIS (proximity) + pgvector (image embeddings)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4800600" y="2706624"/>
            <a:ext cx="3657600" cy="51206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 Level Security 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every table — zero direct client writes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4800600" y="3310128"/>
            <a:ext cx="3657600" cy="51206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Edge Functions 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TypeScript/Deno — incl. the state machine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4800600" y="3913632"/>
            <a:ext cx="3657600" cy="51206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 &amp; Storage 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auth · private photo bucket (WebP)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4800600" y="4517136"/>
            <a:ext cx="3657600" cy="51206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Realtime 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report + notification streams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9281160" y="1554480"/>
            <a:ext cx="2359152" cy="1078992"/>
          </a:xfrm>
          <a:prstGeom prst="roundRect">
            <a:avLst>
              <a:gd fmla="val 12000" name="adj"/>
            </a:avLst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436608" y="1664207"/>
            <a:ext cx="208483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Computer-vision API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436608" y="1965960"/>
            <a:ext cx="208483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classification, validity gate,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perceptual-hash duplicate detection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9281160" y="2807208"/>
            <a:ext cx="2359152" cy="1078992"/>
          </a:xfrm>
          <a:prstGeom prst="roundRect">
            <a:avLst>
              <a:gd fmla="val 12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9436608" y="2916936"/>
            <a:ext cx="208483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Resend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9436608" y="3218688"/>
            <a:ext cx="208483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D8E6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branded transactional email —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D8E6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status updates + auth flows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9281160" y="4059936"/>
            <a:ext cx="2359152" cy="1078992"/>
          </a:xfrm>
          <a:prstGeom prst="roundRect">
            <a:avLst>
              <a:gd fmla="val 12000" name="adj"/>
            </a:avLst>
          </a:prstGeom>
          <a:solidFill>
            <a:srgbClr val="1E5F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9436608" y="4169664"/>
            <a:ext cx="208483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Vercel + GitHub Actions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436608" y="4471416"/>
            <a:ext cx="208483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D8E6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hosting, CI, Vitest test suite</a:t>
            </a:r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3977639" y="2395728"/>
            <a:ext cx="548641" cy="256032"/>
          </a:xfrm>
          <a:prstGeom prst="straightConnector1">
            <a:avLst/>
          </a:prstGeom>
          <a:noFill/>
          <a:ln cap="flat" cmpd="sng" w="25400">
            <a:solidFill>
              <a:srgbClr val="0B25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16"/>
          <p:cNvCxnSpPr/>
          <p:nvPr/>
        </p:nvCxnSpPr>
        <p:spPr>
          <a:xfrm flipH="1" rot="10800000">
            <a:off x="3977639" y="4023360"/>
            <a:ext cx="548641" cy="246888"/>
          </a:xfrm>
          <a:prstGeom prst="straightConnector1">
            <a:avLst/>
          </a:prstGeom>
          <a:noFill/>
          <a:ln cap="flat" cmpd="sng" w="25400">
            <a:solidFill>
              <a:srgbClr val="0B25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16"/>
          <p:cNvCxnSpPr/>
          <p:nvPr/>
        </p:nvCxnSpPr>
        <p:spPr>
          <a:xfrm>
            <a:off x="8732520" y="210312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16"/>
          <p:cNvCxnSpPr/>
          <p:nvPr/>
        </p:nvCxnSpPr>
        <p:spPr>
          <a:xfrm>
            <a:off x="8732520" y="333756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p16"/>
          <p:cNvCxnSpPr/>
          <p:nvPr/>
        </p:nvCxnSpPr>
        <p:spPr>
          <a:xfrm>
            <a:off x="8732520" y="457200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16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 clients, smart server: business rules (state machine, RBAC, jurisdiction gate, notifications) all live in edge functions — the same guarantees no matter which client calls.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 · Zero Down Time · CSCD 602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C8932F"/>
                </a:solidFill>
                <a:latin typeface="Helvetica Neue"/>
              </a:rPr>
              <a:t>AI  ·  IN PLAIN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B2545"/>
                </a:solidFill>
                <a:latin typeface="Helvetica Neue"/>
              </a:rPr>
              <a:t>The AI model — what it is, why we chose it, how we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822960" cy="36576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Helvetica Neue"/>
              </a:rPr>
              <a:t>One computer-vision model, built by our team, reads every report photo and answers three questions before a human ever looks at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379476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38528"/>
            <a:ext cx="502920" cy="45720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48255"/>
            <a:ext cx="3163824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2545"/>
                </a:solidFill>
                <a:latin typeface="Helvetica Neue"/>
              </a:rPr>
              <a:t>WHAT it is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C8932F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Our own CV service.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A model our team built and runs as a separate service; our app calls it over a clean API.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C8932F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1 - Is it real?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It first checks the photo actually shows a public/environmental problem, filtering out selfies and junk.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C8932F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2 - What kind?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YOLOv11 detects the objects in the photo and picks the category: dumping, drain or streetlight.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C8932F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3 - Seen before?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CLIP turns the photo into a 'meaning fingerprint' and compares it (cosine similarity) to nearby recent reports; GPS distance narrows the search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379476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938528"/>
            <a:ext cx="502920" cy="45720"/>
          </a:xfrm>
          <a:prstGeom prst="rect">
            <a:avLst/>
          </a:prstGeom>
          <a:solidFill>
            <a:srgbClr val="1E5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048255"/>
            <a:ext cx="3163824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2545"/>
                </a:solidFill>
                <a:latin typeface="Helvetica Neue"/>
              </a:rPr>
              <a:t>WHY we chose it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1E5F8E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Runs on the server.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The citizen's cheap Android phone on 3G does zero AI work - the model runs in our backend.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1E5F8E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YOLOv11 is fast + accurate.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It recognises objects from a single photo in real time - a good fit for our three categories.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1E5F8E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CLIP matches meaning, not pixels.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It still spots the same rubbish pile shot from a new angle or time of day, which a pixel or filename check would miss.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1E5F8E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Human-in-the-loop.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The model only suggests; a person always decides. It never auto-rejects or auto-merges a report.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1E5F8E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Fail-soft.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An 8-second timeout means a slow or down model never blocks a citizen's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737360"/>
            <a:ext cx="3566160" cy="3794760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4464" y="1938528"/>
            <a:ext cx="502920" cy="457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048255"/>
            <a:ext cx="3163824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2545"/>
                </a:solidFill>
                <a:latin typeface="Helvetica Neue"/>
              </a:rPr>
              <a:t>HOW we use it now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0B2545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On submit.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The app sends the photo + GPS to the service and waits (max 8s).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0B2545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Not a real issue.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Submission is blocked with a friendly 'retake the photo' message - a built-in spam filter.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0B2545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Real issue.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The model's category + confidence are saved next to the citizen's own choice, so officers can compare them and we can measure accuracy. The citizen's choice always stands.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800" b="0">
                <a:solidFill>
                  <a:srgbClr val="0B2545"/>
                </a:solidFill>
                <a:latin typeface="Helvetica Neue"/>
              </a:rPr>
              <a:t>●  </a:t>
            </a:r>
            <a:r>
              <a:rPr sz="1000" b="1">
                <a:solidFill>
                  <a:srgbClr val="1F2837"/>
                </a:solidFill>
                <a:latin typeface="Helvetica Neue"/>
              </a:rPr>
              <a:t>Looks like a duplicate. </a:t>
            </a:r>
            <a:r>
              <a:rPr sz="1000" b="0">
                <a:solidFill>
                  <a:srgbClr val="1F2837"/>
                </a:solidFill>
                <a:latin typeface="Helvetica Neue"/>
              </a:rPr>
              <a:t>The citizen is offered 'follow the existing report' instead of filing a new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09960" cy="548640"/>
          </a:xfrm>
          <a:prstGeom prst="roundRect">
            <a:avLst>
              <a:gd name="adj" fmla="val 3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250" b="1">
                <a:solidFill>
                  <a:srgbClr val="C8932F"/>
                </a:solidFill>
                <a:latin typeface="Helvetica Neue"/>
              </a:rPr>
              <a:t>AI assists, humans decide.  </a:t>
            </a:r>
            <a:r>
              <a:rPr sz="1250" b="0">
                <a:solidFill>
                  <a:srgbClr val="FFFFFF"/>
                </a:solidFill>
                <a:latin typeface="Helvetica Neue"/>
              </a:rPr>
              <a:t>The model only advises - our closed-loop workflow and the people running it make every real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Helvetica Neue"/>
              </a:rPr>
              <a:t>FixMyCity · Zero Down Time · CSCD 602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FEATURES  ·  LIVE IN TODAY'S DEMO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1 — Auto-categorisation and photo validity gate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566928" y="1097280"/>
            <a:ext cx="822960" cy="41148"/>
          </a:xfrm>
          <a:prstGeom prst="rect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548649" y="1828800"/>
            <a:ext cx="1962900" cy="1005900"/>
          </a:xfrm>
          <a:prstGeom prst="roundRect">
            <a:avLst>
              <a:gd fmla="val 12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 submits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 photo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2946625" y="1828800"/>
            <a:ext cx="4973400" cy="1005900"/>
          </a:xfrm>
          <a:prstGeom prst="roundRect">
            <a:avLst>
              <a:gd fmla="val 12000" name="adj"/>
            </a:avLst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Computer-vision service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GPS, Distance, </a:t>
            </a:r>
            <a:r>
              <a:rPr b="1" lang="en-US" sz="1250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CLIP vector &amp; pgvector with cosine similarity</a:t>
            </a:r>
            <a:endParaRPr b="1" sz="1250">
              <a:solidFill>
                <a:srgbClr val="0B254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YOLOV11 for image classification</a:t>
            </a:r>
            <a:endParaRPr b="1" sz="1250">
              <a:solidFill>
                <a:srgbClr val="0B254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8353375" y="1417325"/>
            <a:ext cx="3259500" cy="868800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  →  category + confidence recorded at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submission, shown to officers for evaluation</a:t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8353475" y="2423150"/>
            <a:ext cx="3259500" cy="868800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 civic issue  →  submission blocked with 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friendly “retake the photo” message (spam filter)</a:t>
            </a:r>
            <a:endParaRPr/>
          </a:p>
        </p:txBody>
      </p:sp>
      <p:cxnSp>
        <p:nvCxnSpPr>
          <p:cNvPr id="193" name="Google Shape;193;p17"/>
          <p:cNvCxnSpPr/>
          <p:nvPr/>
        </p:nvCxnSpPr>
        <p:spPr>
          <a:xfrm>
            <a:off x="2511630" y="2331745"/>
            <a:ext cx="435000" cy="13200"/>
          </a:xfrm>
          <a:prstGeom prst="straightConnector1">
            <a:avLst/>
          </a:prstGeom>
          <a:noFill/>
          <a:ln cap="flat" cmpd="sng" w="25400">
            <a:solidFill>
              <a:srgbClr val="0B25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7"/>
          <p:cNvCxnSpPr/>
          <p:nvPr/>
        </p:nvCxnSpPr>
        <p:spPr>
          <a:xfrm flipH="1" rot="10800000">
            <a:off x="7920025" y="1761050"/>
            <a:ext cx="468900" cy="159300"/>
          </a:xfrm>
          <a:prstGeom prst="straightConnector1">
            <a:avLst/>
          </a:prstGeom>
          <a:noFill/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17"/>
          <p:cNvCxnSpPr/>
          <p:nvPr/>
        </p:nvCxnSpPr>
        <p:spPr>
          <a:xfrm>
            <a:off x="7911025" y="2778600"/>
            <a:ext cx="429300" cy="177300"/>
          </a:xfrm>
          <a:prstGeom prst="straightConnector1">
            <a:avLst/>
          </a:prstGeom>
          <a:noFill/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17"/>
          <p:cNvSpPr txBox="1"/>
          <p:nvPr/>
        </p:nvSpPr>
        <p:spPr>
          <a:xfrm>
            <a:off x="548640" y="3794760"/>
            <a:ext cx="110642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Human-in-the-loop by design. </a:t>
            </a:r>
            <a:r>
              <a:rPr b="0" i="0" lang="en-US" sz="13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citizen picks the category; the AI's inferred category + confidence are stored (ai_suggested_category, ai_confidence) and shown to officers, so we can evaluate model accuracy against the citizen's choice — we never auto-classify silently.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Fail-soft. </a:t>
            </a:r>
            <a:r>
              <a:rPr b="0" i="0" lang="en-US" sz="13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vision call has a strict timeout — if the model is slow or down, the report still goes through. AI assists reporting; it never blocks it.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Integrated as a service. </a:t>
            </a:r>
            <a:r>
              <a:rPr b="0" i="0" lang="en-US" sz="135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classifier is a separately-built computer-vision API (a team sub-project), consumed through a thin anti-corruption client in our edge functions — clean contract, swappable model.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 · Zero Down Time · CSCD 602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FEATURES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2 — Duplicate detection, with a human making the call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66928" y="1097280"/>
            <a:ext cx="822960" cy="41148"/>
          </a:xfrm>
          <a:prstGeom prst="rect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48640" y="1508760"/>
            <a:ext cx="5486400" cy="3977639"/>
          </a:xfrm>
          <a:prstGeom prst="roundRect">
            <a:avLst>
              <a:gd fmla="val 12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7240" y="1691640"/>
            <a:ext cx="1554480" cy="384048"/>
          </a:xfrm>
          <a:prstGeom prst="roundRect">
            <a:avLst>
              <a:gd fmla="val 50000" name="adj"/>
            </a:avLst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IN DEMO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Image-similarity dedup at submission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777250" y="2697476"/>
            <a:ext cx="5029200" cy="1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computer vision service decides;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AutoNum type="arabicPeriod"/>
            </a:pPr>
            <a:r>
              <a:rPr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Duplicate — very similar and close by(within 100m)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AutoNum type="arabicPeriod"/>
            </a:pPr>
            <a:r>
              <a:rPr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Possible duplicate — somewhat similar → human review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AutoNum type="arabicPeriod"/>
            </a:pPr>
            <a:r>
              <a:rPr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— not similar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0F0F0"/>
              </a:solidFill>
              <a:highlight>
                <a:srgbClr val="181818"/>
              </a:highlight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263640" y="1508760"/>
            <a:ext cx="5394960" cy="3977639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492240" y="1691640"/>
            <a:ext cx="2148840" cy="384048"/>
          </a:xfrm>
          <a:prstGeom prst="roundRect">
            <a:avLst>
              <a:gd fmla="val 50000" name="adj"/>
            </a:avLst>
          </a:prstGeom>
          <a:solidFill>
            <a:srgbClr val="1E5F8E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SCHEMA, READY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Two-stage geospatial + vector design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492240" y="2697480"/>
            <a:ext cx="4937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Stage 1 — PostGIS: </a:t>
            </a:r>
            <a:r>
              <a:rPr b="0" i="0" lang="en-US" sz="12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 reports = open issues within 100 m and the last 7 days of the new report.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Stage 2 — pgvector: </a:t>
            </a:r>
            <a:r>
              <a:rPr b="0" i="0" lang="en-US" sz="12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candidates ranked by cosine similarity of 512-dimension image embeddings (HNSW-indexed); top 3 returned.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200" u="none" cap="none" strike="noStrike">
                <a:solidFill>
                  <a:srgbClr val="1F293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Migrated and unit-callable today (find_duplicate_candidates); the external CV service currently fulfils this role in production.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48640" y="5715000"/>
            <a:ext cx="11109960" cy="56692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Principle: the AI flags, a human decides.  </a:t>
            </a:r>
            <a:r>
              <a:rPr b="0" i="0" lang="en-US" sz="13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never auto-reject or auto-merge a citizen's report.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 · Zero Down Time · CSCD 602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 ·  QUALITY  ·  COMPLIANCE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 rigor beneath the demo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66928" y="1097280"/>
            <a:ext cx="822960" cy="41148"/>
          </a:xfrm>
          <a:prstGeom prst="rect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548640" y="1508760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731520" y="1600200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 Level Security everywhere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31520" y="1892807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Citizens see their own reports, crews only their assignments, staff see all. No table accepts a direct client write — all writes go through edge functions.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6199632" y="1508760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6382512" y="1600200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Server-enforced RBAC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382512" y="1892807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Five console roles (Admin → Viewer) plus field crews; every edge function re-checks the caller’s permission matrix server-side.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548640" y="2715768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731520" y="2807208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Append-only audit trail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731520" y="3099815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database trigger makes status history immutable — even privileged code cannot rewrite it. Full traceability per report.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6199632" y="2715768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6382512" y="2807208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Jurisdiction gate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6382512" y="3099815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 locations are ray-cast against the real AWMA boundary polygon (OpenStreetMap) on client and server; outside reports are rejected with guidance.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548640" y="3922775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731520" y="4014215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protection (Act 843)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31520" y="4306823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Minimal PII, TLS everywhere, private photo storage — and followers of a report can never see the original reporter’s identity.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6199632" y="3922775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6382512" y="4014215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 for Ghanaian networks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382512" y="4306823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Mid-range Android on 3G is the target: client-side WebP compression, small bundles, installable PWA, ≤5 s time-to-interactive budget.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48640" y="5129783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731520" y="5221223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Tested &amp; traceable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731520" y="5513831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Vitest unit suites (incl. 37 console tests, jurisdiction-gate tests) and every feature mapped to SRS requirements (FR-010 → FR-071).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6199632" y="5129783"/>
            <a:ext cx="5468112" cy="1078992"/>
          </a:xfrm>
          <a:prstGeom prst="roundRect">
            <a:avLst>
              <a:gd fmla="val 12000" name="adj"/>
            </a:avLst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6382512" y="5221223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 references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6382512" y="5513831"/>
            <a:ext cx="5102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Human-friendly IDs like FMC-2026-0432, generated by a database trigger — quotable at the assembly, over the phone, on radio.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 · Zero Down Time · CSCD 602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you'll see in the live demo</a:t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566928" y="1024128"/>
            <a:ext cx="822960" cy="41148"/>
          </a:xfrm>
          <a:prstGeom prst="rect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640080" y="1417320"/>
            <a:ext cx="402336" cy="402336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1234440" y="1399032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 reports  —  </a:t>
            </a:r>
            <a:r>
              <a:rPr b="0" i="0" lang="en-US" sz="125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photo → AI validates it &amp; records a category for officers → pin the location → unique reference issued</a:t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640080" y="2258568"/>
            <a:ext cx="402336" cy="402336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1234440" y="2240280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dedup  —  </a:t>
            </a:r>
            <a:r>
              <a:rPr b="0" i="0" lang="en-US" sz="125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similar photo triggers the duplicate offer — follow the existing report instead of re-filing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640080" y="3099816"/>
            <a:ext cx="402336" cy="402336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1234440" y="3081528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Console triage  —  </a:t>
            </a:r>
            <a:r>
              <a:rPr b="0" i="0" lang="en-US" sz="125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officer acknowledges, assigns an available crew — audit log grows with every action</a:t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640080" y="3941064"/>
            <a:ext cx="402336" cy="402336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1234440" y="3922776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Crew resolves  —  </a:t>
            </a:r>
            <a:r>
              <a:rPr b="0" i="0" lang="en-US" sz="125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one-tap start / resolve from the crew view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640080" y="4782312"/>
            <a:ext cx="402336" cy="402336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1234440" y="4764024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Loop closes  —  </a:t>
            </a:r>
            <a:r>
              <a:rPr b="0" i="0" lang="en-US" sz="125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 is notified in-app + by email at every step — and can reopen within 7 days if it isn’t fixed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8229600" y="1417320"/>
            <a:ext cx="3429000" cy="4023360"/>
          </a:xfrm>
          <a:prstGeom prst="roundRect">
            <a:avLst>
              <a:gd fmla="val 12000" name="adj"/>
            </a:avLst>
          </a:prstGeom>
          <a:solidFill>
            <a:srgbClr val="081C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8458200" y="160020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What's next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8458200" y="2057400"/>
            <a:ext cx="2971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2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 push notifications (FCM)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2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Offline report queueing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2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Playwright end-to-end tests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2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Scale beyond AWMA to more assemblies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●  </a:t>
            </a:r>
            <a:r>
              <a:rPr b="0" i="0" lang="en-US" sz="1200" u="none" cap="none" strike="noStrike">
                <a:solidFill>
                  <a:srgbClr val="C9D6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Twi, Ga and Ewe localisation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C893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 — questions welcome.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FB3C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fixmycity-citizen.vercel.app  ·  Group Zero Down Time  ·  CSCD 602, University of Ghana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